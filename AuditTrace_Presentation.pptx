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AuditTrace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A8D0"/>
                </a:solidFill>
                <a:latin typeface="Calibri"/>
              </a:rPr>
              <a:t>Multi-Agent LLM Consensus for Compliance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CMPE 258 Deep Learning  |  SJSU Spring 2026  |  Group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Parth Gala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486400"/>
            <a:ext cx="1920240" cy="384048"/>
          </a:xfrm>
          <a:prstGeom prst="rect">
            <a:avLst/>
          </a:prstGeom>
          <a:solidFill>
            <a:srgbClr val="2D6A4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55321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Checkov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5486400"/>
            <a:ext cx="1920240" cy="384048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48072" y="55321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3-Model FP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5486400"/>
            <a:ext cx="1920240" cy="384048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55321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Consensus Voting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Static scanners detect violations; they cannot reason about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97480" cy="146304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Checkov findings on terragoat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97480" cy="1463040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7744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with surrounding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97480" cy="1463040"/>
          </a:xfrm>
          <a:prstGeom prst="rect">
            <a:avLst/>
          </a:prstGeom>
          <a:solidFill>
            <a:srgbClr val="D9A44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~30%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are noise on real repos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417320"/>
            <a:ext cx="2697480" cy="1463040"/>
          </a:xfrm>
          <a:prstGeom prst="rect">
            <a:avLst/>
          </a:prstGeom>
          <a:solidFill>
            <a:srgbClr val="6B728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37744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engineer time per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9E6F"/>
                </a:solidFill>
                <a:latin typeface="Calibri"/>
              </a:rPr>
              <a:t>Checkov Strength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703320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Deterministic — never misses a rule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500+ AWS/Terraform checks built-in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Runs in seconds, fully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4545"/>
                </a:solidFill>
                <a:latin typeface="Calibri"/>
              </a:rPr>
              <a:t>Checkov Weakness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611880"/>
            <a:ext cx="5212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703320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Treats a CI test bucket the same as production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Cannot read comments, file paths, sibling resources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F1115"/>
                </a:solidFill>
                <a:latin typeface="Calibri"/>
              </a:rPr>
              <a:t>  Drowns engineers in unprioritized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We add LLM judgement — but only where Checkov needs it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Hybrid pipeline: deterministic detection + contextual 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384048"/>
          </a:xfrm>
          <a:prstGeom prst="rect">
            <a:avLst/>
          </a:prstGeom>
          <a:solidFill>
            <a:srgbClr val="2D6A4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9202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Clone repo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Run Checkov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Extract full Terraform block per 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49039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749039" cy="384048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92024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Send each finding + HCL context to 3 LLMs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Each model independently labels: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      GENUINE  /  FALSE_POSITIVE  /  UNCERTAIN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749039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749039" cy="384048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920240"/>
            <a:ext cx="3520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dirty="0">
                <a:solidFill>
                  <a:srgbClr val="0F1115"/>
                </a:solidFill>
                <a:latin typeface="Calibri"/>
              </a:rPr>
              <a:t>  3/3 GENUINE       →  HIGH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F1115"/>
                </a:solidFill>
                <a:latin typeface="Calibri"/>
              </a:rPr>
              <a:t>  2/3 GENUINE       →  LIKELY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</a:t>
            </a:r>
            <a:r>
              <a:rPr lang="en-US" sz="1400">
                <a:solidFill>
                  <a:srgbClr val="0F1115"/>
                </a:solidFill>
                <a:latin typeface="Calibri"/>
              </a:rPr>
              <a:t>1</a:t>
            </a:r>
            <a:r>
              <a:rPr sz="1400">
                <a:solidFill>
                  <a:srgbClr val="0F1115"/>
                </a:solidFill>
                <a:latin typeface="Calibri"/>
              </a:rPr>
              <a:t>/3 FALSE_POS.    </a:t>
            </a:r>
            <a:r>
              <a:rPr sz="1400" dirty="0">
                <a:solidFill>
                  <a:srgbClr val="0F1115"/>
                </a:solidFill>
                <a:latin typeface="Calibri"/>
              </a:rPr>
              <a:t>→  SUPPRESSED (auto-dropped)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Calibri"/>
              </a:rPr>
              <a:t>Key shift from the literature: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99632"/>
            <a:ext cx="11247120" cy="50292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2727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LLMs are not detectors — they are judges. They never invent findings, only validate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LangGraph orchestrates a 2-node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737360" cy="914400"/>
          </a:xfrm>
          <a:prstGeom prst="rect">
            <a:avLst/>
          </a:prstGeom>
          <a:solidFill>
            <a:srgbClr val="EBEBE8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5"/>
                </a:solidFill>
                <a:latin typeface="Calibri"/>
              </a:rPr>
              <a:t>CIS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417320"/>
            <a:ext cx="1737360" cy="914400"/>
          </a:xfrm>
          <a:prstGeom prst="rect">
            <a:avLst/>
          </a:prstGeom>
          <a:solidFill>
            <a:srgbClr val="0F1115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Policy
Distill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417320"/>
            <a:ext cx="1737360" cy="914400"/>
          </a:xfrm>
          <a:prstGeom prst="rect">
            <a:avLst/>
          </a:prstGeom>
          <a:solidFill>
            <a:srgbClr val="EBEBE8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5"/>
                </a:solidFill>
                <a:latin typeface="Calibri"/>
              </a:rPr>
              <a:t>GitHub
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417320"/>
            <a:ext cx="1737360" cy="914400"/>
          </a:xfrm>
          <a:prstGeom prst="rect">
            <a:avLst/>
          </a:prstGeom>
          <a:solidFill>
            <a:srgbClr val="0F1115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Checkov
+ HCL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1737360" cy="914400"/>
          </a:xfrm>
          <a:prstGeom prst="rect">
            <a:avLst/>
          </a:prstGeom>
          <a:solidFill>
            <a:srgbClr val="6F42C1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3-LLM
Judges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417320"/>
            <a:ext cx="1737360" cy="914400"/>
          </a:xfrm>
          <a:prstGeom prst="rect">
            <a:avLst/>
          </a:prstGeom>
          <a:solidFill>
            <a:srgbClr val="5A9E6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4904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Tiered
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7373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17373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7373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7373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7373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PyMuPDF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GPT-4o mini (one-time)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git clone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Checkov 3.x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OpenRouter parallel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395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React + SQLite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3017520"/>
            <a:ext cx="3749039" cy="384048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Offline (once)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3520440"/>
            <a:ext cx="3520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CIS PDF → 89 structured clauses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GPT-4o mini, one call per control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Saved to policies/cis_aws_v7.json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01752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51959" y="3017520"/>
            <a:ext cx="3749039" cy="384048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61687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Runtime (per audit)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7" y="3520440"/>
            <a:ext cx="3520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Clone repo + Checkov scan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Extract enclosing Terraform block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Attach HCL to every finding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01752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3017520"/>
            <a:ext cx="3749039" cy="384048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8" y="30723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Consensus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520440"/>
            <a:ext cx="3520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3 models judge each finding in parallel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SHA-256 cache: same input → same verdicts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Versioned audit stored in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We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Two independent test suites with hand-labeled ground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384048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4721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FP-Filter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920240"/>
            <a:ext cx="5349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30 hand-labeled findings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15 GENUINE  +  15 FALSE_POSITIVE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13 distinct Checkov check IDs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Each item: real HCL + correct verdict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Metrics: P / R / F1, kappa, per-tier 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577840" cy="384048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721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Planner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20240"/>
            <a:ext cx="5349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55 test cases from CIS AWS Benchmark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Input: clause text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Output: severity, type, target resources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Metrics: severity acc, type acc, targets F1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Also: latency, tokens, $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37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Why this evaluation is defensible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03520"/>
            <a:ext cx="1143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Annotations are real Terraform from open-source repos — not synthetic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Each item picked to test contextual reasoning the LLM must do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SHA-256 cache makes every number deterministic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— FP-Filter 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Three views of the same n = 30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1645920"/>
          </a:xfrm>
          <a:prstGeom prst="rect">
            <a:avLst/>
          </a:prstGeom>
          <a:solidFill>
            <a:srgbClr val="D9A44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84.6 –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Per-model F1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1645920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58191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0.67 – 0.93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Inter-model agreement 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3657600" cy="1645920"/>
          </a:xfrm>
          <a:prstGeom prst="rect">
            <a:avLst/>
          </a:prstGeom>
          <a:solidFill>
            <a:srgbClr val="5A9E6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8191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Joint consensus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What each number tells 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A441"/>
                </a:solidFill>
                <a:latin typeface="Calibri"/>
              </a:rPr>
              <a:t>Models differ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Llama F1 = 84.6%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GPT-4o mini F1 = 96.8%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DeepSeek F1 = 100%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No single model is sufficient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03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F42C1"/>
                </a:solidFill>
                <a:latin typeface="Calibri"/>
              </a:rPr>
              <a:t>They genuinely disagree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14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κ &lt; 1 on every pair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Models with different blind spots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Voting does real work —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not just rubber-stamping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7033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9E6F"/>
                </a:solidFill>
                <a:latin typeface="Calibri"/>
              </a:rPr>
              <a:t>Together they 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30 / 30 cases correctly tiered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15 / 15 false positives suppressed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15 / 15 true violations retained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Consensus &gt; any single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Caveat: n = 30, hand-curated. Per-model variance is the load-bearing evidence — explored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Each Model Fails Differently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Errors are non-overlapping — that's why voting recovers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17320"/>
            <a:ext cx="3657600" cy="1280160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58191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individual errors across all 3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6F42C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417320"/>
            <a:ext cx="3657600" cy="1280160"/>
          </a:xfrm>
          <a:prstGeom prst="rect">
            <a:avLst/>
          </a:prstGeom>
          <a:solidFill>
            <a:srgbClr val="5A9E6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81912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errors after consensus voting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3749039" cy="384048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02666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Llama 3.1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3474720"/>
            <a:ext cx="3520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Misses 4 real violations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Recall = 73.3%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Failure mode: under-flags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Cheapest of the three, fast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971800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2971800"/>
            <a:ext cx="3749039" cy="384048"/>
          </a:xfrm>
          <a:prstGeom prst="rect">
            <a:avLst/>
          </a:prstGeom>
          <a:solidFill>
            <a:srgbClr val="D9A44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302666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GPT-4o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3474720"/>
            <a:ext cx="3520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Flags 1 false positive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Precision = 93.8%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Failure mode: over-flags once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Fastest (1.34s in planner eval)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971800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971800"/>
            <a:ext cx="3749039" cy="384048"/>
          </a:xfrm>
          <a:prstGeom prst="rect">
            <a:avLst/>
          </a:prstGeom>
          <a:solidFill>
            <a:srgbClr val="6B7280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302666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DeepSeek 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3474720"/>
            <a:ext cx="3520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0 errors on n = 30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Best on this set —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but n is small + DeepSeek is slowest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(7.15s in planner eval)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B7280"/>
                </a:solidFill>
                <a:latin typeface="Calibri"/>
              </a:rPr>
              <a:t>If we ran any single model, we'd be wrong 0 – 4 times. Different models fail on different cases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6B7280"/>
                </a:solidFill>
                <a:latin typeface="Calibri"/>
              </a:rPr>
              <a:t>the union of their mistakes does NOT exceed the majority threshold on any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Models Disagree  |  Tiers Separate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Cohen's κ + tier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Cohen's κ across model pairs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46888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719072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109728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0944" y="1719072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645920"/>
            <a:ext cx="210312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719072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66544"/>
            <a:ext cx="24688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" y="2157984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GPT  vs  DeepSeek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066544"/>
            <a:ext cx="10972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215798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0.93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066544"/>
            <a:ext cx="210312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78224" y="2157984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Almost perfect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257860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DeepSeek  vs  Llama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48716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80944" y="257860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0.73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487168"/>
            <a:ext cx="21031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78224" y="2578608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Substantial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07792"/>
            <a:ext cx="24688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2999232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GPT  vs  Llama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907792"/>
            <a:ext cx="10972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80944" y="2999232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0.67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2907792"/>
            <a:ext cx="210312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78224" y="2999232"/>
            <a:ext cx="1993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Substantial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5760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7490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Calibri"/>
              </a:rPr>
              <a:t>What κ tells 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5349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κ ranges 0.67 – 0.93, never 1.0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GPT  +  DeepSeek closest in style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Llama disagrees most with the other two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Disagreement → voting is non-trivial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Tier  →  ground-truth distribution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45920"/>
            <a:ext cx="182880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1719072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645920"/>
            <a:ext cx="100584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4464" y="171907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645920"/>
            <a:ext cx="128016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90304" y="1719072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Genuine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1645920"/>
            <a:ext cx="128016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70464" y="1719072"/>
            <a:ext cx="1170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066544"/>
            <a:ext cx="182880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55664" y="21579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066544"/>
            <a:ext cx="100584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4464" y="215798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2066544"/>
            <a:ext cx="12801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90304" y="2157984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15600" y="2066544"/>
            <a:ext cx="12801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70464" y="2157984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248716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55664" y="257860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LIKELY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2487168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84464" y="257860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248716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90304" y="257860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0" y="2487168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70464" y="257860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2907792"/>
            <a:ext cx="182880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55664" y="2999232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LIKELY_FP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2907792"/>
            <a:ext cx="100584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84464" y="29992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2907792"/>
            <a:ext cx="12801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0304" y="2999232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0" y="2907792"/>
            <a:ext cx="12801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570464" y="2999232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4545"/>
                </a:solidFill>
                <a:latin typeface="Calibr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332841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55664" y="341985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4545"/>
                </a:solidFill>
                <a:latin typeface="Calibri"/>
              </a:rPr>
              <a:t>SUPPRESSED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3328416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84464" y="341985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3328416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90304" y="34198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15600" y="3328416"/>
            <a:ext cx="1280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570464" y="34198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4545"/>
                </a:solidFill>
                <a:latin typeface="Calibri"/>
              </a:rPr>
              <a:t>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406908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37960" y="416052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Calibri"/>
              </a:rPr>
              <a:t>What the counts show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452628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All 15 GENUINE items → HIGH or LIKELY tier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All 15 FP items → LIKELY_FP or SUPPRESSED tier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Zero cross-contamination across the boundary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115"/>
                </a:solidFill>
                <a:latin typeface="Calibri"/>
              </a:rPr>
              <a:t>  Tier names are predictive, not decorative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Real disagreement  +  clean tier separation  =  the consensus mechanism is doing measurable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— Planner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55 CIS clauses  |  accuracy vs latency vs cost tradeoff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46888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490472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17320"/>
            <a:ext cx="150876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9504" y="1490472"/>
            <a:ext cx="1399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Type Acc.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169164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98264" y="1490472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Targets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182880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9904" y="1490472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Severity Acc.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417320"/>
            <a:ext cx="1417320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18704" y="149047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417320"/>
            <a:ext cx="1874519" cy="420624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36024" y="1490472"/>
            <a:ext cx="17647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Cost /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37944"/>
            <a:ext cx="24688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1929384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GPT-4o mini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837944"/>
            <a:ext cx="15087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9504" y="1929384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85.5%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1837944"/>
            <a:ext cx="169164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98264" y="1929384"/>
            <a:ext cx="1581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70.5%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37944"/>
            <a:ext cx="182880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9904" y="19293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40.0%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837944"/>
            <a:ext cx="141732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18704" y="19293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1.34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1837944"/>
            <a:ext cx="1874519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36024" y="1929384"/>
            <a:ext cx="17647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$0.0022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258568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" y="2350008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DeepSeek V3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258568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9504" y="235000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90.9%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258568"/>
            <a:ext cx="1691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98264" y="2350008"/>
            <a:ext cx="1581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80.9%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25856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9904" y="235000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38.2%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258568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18704" y="235000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4545"/>
                </a:solidFill>
                <a:latin typeface="Calibri"/>
              </a:rPr>
              <a:t>7.15 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2258568"/>
            <a:ext cx="187451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36024" y="2350008"/>
            <a:ext cx="17647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$0.0018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679192"/>
            <a:ext cx="246888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4" y="2770632"/>
            <a:ext cx="2359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115"/>
                </a:solidFill>
                <a:latin typeface="Calibri"/>
              </a:rPr>
              <a:t>Llama 3.1 70B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2679192"/>
            <a:ext cx="150876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89504" y="2770632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90.9%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2679192"/>
            <a:ext cx="169164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98264" y="2770632"/>
            <a:ext cx="1581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9E6F"/>
                </a:solidFill>
                <a:latin typeface="Calibri"/>
              </a:rPr>
              <a:t>79.2%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2679192"/>
            <a:ext cx="182880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89904" y="2770632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50.9%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679192"/>
            <a:ext cx="1417320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18704" y="27706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A441"/>
                </a:solidFill>
                <a:latin typeface="Calibri"/>
              </a:rPr>
              <a:t>3.04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2679192"/>
            <a:ext cx="1874519" cy="420624"/>
          </a:xfrm>
          <a:prstGeom prst="rect">
            <a:avLst/>
          </a:prstGeom>
          <a:solidFill>
            <a:srgbClr val="FAFAF7"/>
          </a:solidFill>
          <a:ln w="635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36024" y="2770632"/>
            <a:ext cx="17647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4545"/>
                </a:solidFill>
                <a:latin typeface="Calibri"/>
              </a:rPr>
              <a:t>$0.0057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520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Reading the table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88620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" y="3977639"/>
            <a:ext cx="5349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No single winner — explicit tradeoff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GPT-4o mini  →  5× faster than DeepSeek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DeepSeek      →  best on type + targets, lowest cost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Llama 3.1 70B →  best severity, mid-price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Why severity accuracy is 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886200"/>
            <a:ext cx="5212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3977639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Severity is the most subjective field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Engineers disagree on critical vs high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Type acc + Targets F1 are objective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Those are the load-bearing numbers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Live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End-to-end audit on bridgecrewio/terragoat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97480" cy="15544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Checkov 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97480" cy="1554480"/>
          </a:xfrm>
          <a:prstGeom prst="rect">
            <a:avLst/>
          </a:prstGeom>
          <a:solidFill>
            <a:srgbClr val="D6454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high 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97480" cy="1554480"/>
          </a:xfrm>
          <a:prstGeom prst="rect">
            <a:avLst/>
          </a:prstGeom>
          <a:solidFill>
            <a:srgbClr val="D9A44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medium severity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417320"/>
            <a:ext cx="2697480" cy="1554480"/>
          </a:xfrm>
          <a:prstGeom prst="rect">
            <a:avLst/>
          </a:prstGeom>
          <a:solidFill>
            <a:srgbClr val="5A9E6F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581912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86.8%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compliance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What the demo shows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11247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10972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50">
                <a:solidFill>
                  <a:srgbClr val="0F1115"/>
                </a:solidFill>
                <a:latin typeface="Calibri"/>
              </a:rPr>
              <a:t>  Paste a GitHub URL  →  one click  →  audit pipeline runs</a:t>
            </a:r>
          </a:p>
          <a:p>
            <a:pPr>
              <a:spcBef>
                <a:spcPts val="1000"/>
              </a:spcBef>
            </a:pPr>
            <a:r>
              <a:rPr sz="1450">
                <a:solidFill>
                  <a:srgbClr val="0F1115"/>
                </a:solidFill>
                <a:latin typeface="Calibri"/>
              </a:rPr>
              <a:t>  Each finding shows per-model verdicts: GENUINE / FALSE_POSITIVE / UNCERTAIN</a:t>
            </a:r>
          </a:p>
          <a:p>
            <a:pPr>
              <a:spcBef>
                <a:spcPts val="1000"/>
              </a:spcBef>
            </a:pPr>
            <a:r>
              <a:rPr sz="1450">
                <a:solidFill>
                  <a:srgbClr val="0F1115"/>
                </a:solidFill>
                <a:latin typeface="Calibri"/>
              </a:rPr>
              <a:t>  Tiered display: HIGH (red)  |  LIKELY (amber)  |  SUPPRESSED (collapsed)</a:t>
            </a:r>
          </a:p>
          <a:p>
            <a:pPr>
              <a:spcBef>
                <a:spcPts val="1000"/>
              </a:spcBef>
            </a:pPr>
            <a:r>
              <a:rPr sz="1450">
                <a:solidFill>
                  <a:srgbClr val="0F1115"/>
                </a:solidFill>
                <a:latin typeface="Calibri"/>
              </a:rPr>
              <a:t>  Eval panel: live per-model F1, Cohen's κ, per-tier precision</a:t>
            </a:r>
          </a:p>
          <a:p>
            <a:pPr>
              <a:spcBef>
                <a:spcPts val="1000"/>
              </a:spcBef>
            </a:pPr>
            <a:r>
              <a:rPr sz="1450">
                <a:solidFill>
                  <a:srgbClr val="0F1115"/>
                </a:solidFill>
                <a:latin typeface="Calibri"/>
              </a:rPr>
              <a:t>  SHA-256 cache: re-audit of the same repo completes in 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95CC"/>
                </a:solidFill>
                <a:latin typeface="Calibri"/>
              </a:rPr>
              <a:t>Honest framing of what's measured and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4545"/>
                </a:solidFill>
                <a:latin typeface="Calibri"/>
              </a:rPr>
              <a:t>What's measured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5349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n = 30 annotations — small set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Hand-curated with strong context signals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Single framework (CIS AWS)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Terraform / HCL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A9E6F"/>
                </a:solidFill>
                <a:latin typeface="Calibri"/>
              </a:rPr>
              <a:t>What's coming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27632"/>
            <a:ext cx="5212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719072"/>
            <a:ext cx="4983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Expand to 80–100 adversarial annotations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Add NIST SP 800-53, SOC 2 frameworks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CloudFormation + Kubernetes support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F1115"/>
                </a:solidFill>
                <a:latin typeface="Calibri"/>
              </a:rPr>
              <a:t>  Auto-generated fix PRs with terraform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115"/>
                </a:solidFill>
                <a:latin typeface="Calibri"/>
              </a:rPr>
              <a:t>What we deliberately did NOT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0060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Did not train or fine-tune any model — three off-the-shelf LLMs only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Did not use LLMs as detectors — they only judge what Checkov surfaces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Did not cherry-pick — eval JSONs are regenerable with one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417320"/>
            <a:ext cx="4873752" cy="45720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11096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Hybrid system:  deterministic detection (Checkov) + contextual judgement (3 LLMs)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24328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9631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FP-Filter eval, n = 30:   100 % overall accuracy   |   100 % FP reduction   |   100 % TP retention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37560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20954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Per-model F1 varies 84.6 % → 100 %  —  consensus rescues each model's blind spots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50792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92277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Cohen's κ 0.67 – 0.93  —  models genuinely disagree, voting does real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764024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Tiers carry signal:  HIGH = 100 % genuine,  SUPPRESSED = 0 % genuine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477256"/>
            <a:ext cx="164592" cy="164592"/>
          </a:xfrm>
          <a:prstGeom prst="rect">
            <a:avLst/>
          </a:prstGeom>
          <a:solidFill>
            <a:srgbClr val="6F42C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34924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Planner eval, n = 55:   type acc 85 – 91 %,  latency 1.3 – 7.2 s,  cost $0.0018 – $0.0057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D8FD0"/>
                </a:solidFill>
                <a:latin typeface="Calibri"/>
              </a:rPr>
              <a:t>github.com/ParthGala2k/AuditTrace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1378</Words>
  <Application>Microsoft Office PowerPoint</Application>
  <PresentationFormat>Custom</PresentationFormat>
  <Paragraphs>263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Gala</cp:lastModifiedBy>
  <cp:revision>2</cp:revision>
  <dcterms:created xsi:type="dcterms:W3CDTF">2013-01-27T09:14:16Z</dcterms:created>
  <dcterms:modified xsi:type="dcterms:W3CDTF">2026-05-20T06:00:56Z</dcterms:modified>
  <cp:category/>
</cp:coreProperties>
</file>